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10"/>
  </p:normalViewPr>
  <p:slideViewPr>
    <p:cSldViewPr snapToGrid="0" snapToObjects="1">
      <p:cViewPr varScale="1">
        <p:scale>
          <a:sx n="153" d="100"/>
          <a:sy n="153" d="100"/>
        </p:scale>
        <p:origin x="46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33410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 — "Let's actually run WordCount on a cluster."
DO — switch to the terminal now; the next two slides are your run-sheet, so you don't have to remember commands. Keep this slide up on a second screen if you have one.
NEXT — setup.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gterdem/hadoop-demo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4C9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FFDC00"/>
          </a:solidFill>
          <a:ln/>
        </p:spPr>
      </p:sp>
      <p:sp>
        <p:nvSpPr>
          <p:cNvPr id="3" name="Text 1"/>
          <p:cNvSpPr/>
          <p:nvPr/>
        </p:nvSpPr>
        <p:spPr>
          <a:xfrm>
            <a:off x="9235440" y="4572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E8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TMU LOGO ]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05840" y="18745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600" dirty="0">
                <a:solidFill>
                  <a:srgbClr val="FFDC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APACHE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60120" y="228600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Hadoop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005840" y="37033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Storage &amp; Processing for Big Data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024128" y="4434840"/>
            <a:ext cx="4114800" cy="0"/>
          </a:xfrm>
          <a:prstGeom prst="line">
            <a:avLst/>
          </a:prstGeom>
          <a:noFill/>
          <a:ln w="25400">
            <a:solidFill>
              <a:srgbClr val="FFDC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46177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BBD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CIND119 DHA — Introduction to Big Data — P2026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5074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8FB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Dr. Zekiye Erdem</a:t>
            </a:r>
            <a:endParaRPr lang="en-US" sz="14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B2032C5-BDC2-B409-183F-BFCAA9FBEF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4491" y="27391"/>
            <a:ext cx="2308058" cy="125276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201168" cy="201168"/>
          </a:xfrm>
          <a:prstGeom prst="rect">
            <a:avLst/>
          </a:prstGeom>
          <a:solidFill>
            <a:srgbClr val="FFDC00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310896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04C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Objectives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41248" y="896112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lecture, you will be able to: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10881360" cy="786384"/>
          </a:xfrm>
          <a:prstGeom prst="roundRect">
            <a:avLst>
              <a:gd name="adj" fmla="val 9302"/>
            </a:avLst>
          </a:prstGeom>
          <a:solidFill>
            <a:srgbClr val="EEF2F7"/>
          </a:solidFill>
          <a:ln w="12700">
            <a:solidFill>
              <a:srgbClr val="C9D3DF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04672" y="1655064"/>
            <a:ext cx="493776" cy="493776"/>
          </a:xfrm>
          <a:prstGeom prst="rect">
            <a:avLst/>
          </a:prstGeom>
          <a:solidFill>
            <a:srgbClr val="004C9B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1600200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4C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Explain the problem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754880" y="1600200"/>
            <a:ext cx="6537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petabyte-scale data needs distributed systems, not a bigger server.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441448"/>
            <a:ext cx="10881360" cy="786384"/>
          </a:xfrm>
          <a:prstGeom prst="roundRect">
            <a:avLst>
              <a:gd name="adj" fmla="val 9302"/>
            </a:avLst>
          </a:prstGeom>
          <a:solidFill>
            <a:srgbClr val="EEF2F7"/>
          </a:solidFill>
          <a:ln w="12700">
            <a:solidFill>
              <a:srgbClr val="C9D3DF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04672" y="2587752"/>
            <a:ext cx="493776" cy="493776"/>
          </a:xfrm>
          <a:prstGeom prst="rect">
            <a:avLst/>
          </a:prstGeom>
          <a:solidFill>
            <a:srgbClr val="004C9B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08760" y="2532888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4C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Map the ecosystem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754880" y="2532888"/>
            <a:ext cx="6537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Hadoop's 4 core modules and the tools built around them.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374136"/>
            <a:ext cx="10881360" cy="786384"/>
          </a:xfrm>
          <a:prstGeom prst="roundRect">
            <a:avLst>
              <a:gd name="adj" fmla="val 9302"/>
            </a:avLst>
          </a:prstGeom>
          <a:solidFill>
            <a:srgbClr val="EEF2F7"/>
          </a:solidFill>
          <a:ln w="12700">
            <a:solidFill>
              <a:srgbClr val="C9D3DF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04672" y="3520440"/>
            <a:ext cx="493776" cy="493776"/>
          </a:xfrm>
          <a:prstGeom prst="rect">
            <a:avLst/>
          </a:prstGeom>
          <a:solidFill>
            <a:srgbClr val="004C9B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08760" y="3465576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4C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Understand HDFS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754880" y="3465576"/>
            <a:ext cx="6537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how files are split, replicated, and protected across a cluster.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4306824"/>
            <a:ext cx="10881360" cy="786384"/>
          </a:xfrm>
          <a:prstGeom prst="roundRect">
            <a:avLst>
              <a:gd name="adj" fmla="val 9302"/>
            </a:avLst>
          </a:prstGeom>
          <a:solidFill>
            <a:srgbClr val="EEF2F7"/>
          </a:solidFill>
          <a:ln w="12700">
            <a:solidFill>
              <a:srgbClr val="C9D3DF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04672" y="4453128"/>
            <a:ext cx="493776" cy="493776"/>
          </a:xfrm>
          <a:prstGeom prst="rect">
            <a:avLst/>
          </a:prstGeom>
          <a:solidFill>
            <a:srgbClr val="004C9B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508760" y="4398264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4C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Trace MapReduce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754880" y="4398264"/>
            <a:ext cx="6537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a job end-to-end: Map → Shuffle &amp; Sort → Reduce.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5239512"/>
            <a:ext cx="10881360" cy="786384"/>
          </a:xfrm>
          <a:prstGeom prst="roundRect">
            <a:avLst>
              <a:gd name="adj" fmla="val 9302"/>
            </a:avLst>
          </a:prstGeom>
          <a:solidFill>
            <a:srgbClr val="EEF2F7"/>
          </a:solidFill>
          <a:ln w="12700">
            <a:solidFill>
              <a:srgbClr val="C9D3DF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04672" y="5385816"/>
            <a:ext cx="493776" cy="493776"/>
          </a:xfrm>
          <a:prstGeom prst="rect">
            <a:avLst/>
          </a:prstGeom>
          <a:solidFill>
            <a:srgbClr val="004C9B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508760" y="5330952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4C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Place it in 2026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754880" y="5330952"/>
            <a:ext cx="6537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Situate Hadoop against Apache Spark and cloud data lakes today.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TMU  •  CIND119 DHA - Introduction to Big Data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201168" cy="201168"/>
          </a:xfrm>
          <a:prstGeom prst="rect">
            <a:avLst/>
          </a:prstGeom>
          <a:solidFill>
            <a:srgbClr val="FFDC00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310896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04C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C9D3DF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554480"/>
            <a:ext cx="3611880" cy="868680"/>
          </a:xfrm>
          <a:prstGeom prst="rect">
            <a:avLst/>
          </a:prstGeom>
          <a:solidFill>
            <a:srgbClr val="004C9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66420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DC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Foundations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2880360"/>
            <a:ext cx="3108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Data problem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Hadoop?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components &amp; ecosystem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world of Hadoop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HDFS works (deep dive)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26280" y="155448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C9D3DF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26280" y="1554480"/>
            <a:ext cx="3611880" cy="868680"/>
          </a:xfrm>
          <a:prstGeom prst="rect">
            <a:avLst/>
          </a:prstGeom>
          <a:solidFill>
            <a:srgbClr val="00346B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66420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DC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0" y="192024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MapReduce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800600" y="2880360"/>
            <a:ext cx="3108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Map → Reduce paradigm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WordCount, worked end-to-end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analytics scenario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locality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Combiner &amp; Partitioner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412480" y="155448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C9D3DF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12480" y="1554480"/>
            <a:ext cx="3611880" cy="868680"/>
          </a:xfrm>
          <a:prstGeom prst="rect">
            <a:avLst/>
          </a:prstGeom>
          <a:solidFill>
            <a:srgbClr val="FF7200"/>
          </a:solidFill>
          <a:ln/>
        </p:spPr>
      </p:sp>
      <p:sp>
        <p:nvSpPr>
          <p:cNvPr id="18" name="Text 16"/>
          <p:cNvSpPr/>
          <p:nvPr/>
        </p:nvSpPr>
        <p:spPr>
          <a:xfrm>
            <a:off x="8641080" y="166420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DC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WRAP-UP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41080" y="192024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Hadoop fits now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686800" y="2880360"/>
            <a:ext cx="3108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of MapReduce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&amp; the lakehouse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what today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WordCount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TMU  •  CIND119 DHA - Introduction to Big Data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4C9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FDC00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0574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300" dirty="0">
                <a:solidFill>
                  <a:srgbClr val="FFDC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26060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Foundations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914400" y="3886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big data is hard — and how Hadoop answers it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BC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TMU  •  CIND119 DHA - Introduction to Big Data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BC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201168" cy="201168"/>
          </a:xfrm>
          <a:prstGeom prst="rect">
            <a:avLst/>
          </a:prstGeom>
          <a:solidFill>
            <a:srgbClr val="FFDC00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310896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04C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Big Data Problem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41248" y="896112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machine, three walls you cannot build around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361188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C9D3DF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00200"/>
            <a:ext cx="3611880" cy="109728"/>
          </a:xfrm>
          <a:prstGeom prst="rect">
            <a:avLst/>
          </a:prstGeom>
          <a:solidFill>
            <a:srgbClr val="004C9B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9659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100" dirty="0">
                <a:solidFill>
                  <a:srgbClr val="004C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VOLUME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24688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 big to store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3017520"/>
            <a:ext cx="3063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disk tops out in terabytes. Modern datasets reach petabytes — they simply do not fit on one machine.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26280" y="1600200"/>
            <a:ext cx="361188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C9D3DF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26280" y="1600200"/>
            <a:ext cx="3611880" cy="109728"/>
          </a:xfrm>
          <a:prstGeom prst="rect">
            <a:avLst/>
          </a:prstGeom>
          <a:solidFill>
            <a:srgbClr val="004C9B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19659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100" dirty="0">
                <a:solidFill>
                  <a:srgbClr val="004C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VELOCITY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800600" y="24688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 slow to process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00600" y="3017520"/>
            <a:ext cx="3063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Scanning 1 PB on one disk (~200 MB/s) takes ~58 days. One CPU cannot finish in any useful time.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412480" y="1600200"/>
            <a:ext cx="361188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C9D3DF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12480" y="1600200"/>
            <a:ext cx="3611880" cy="109728"/>
          </a:xfrm>
          <a:prstGeom prst="rect">
            <a:avLst/>
          </a:prstGeom>
          <a:solidFill>
            <a:srgbClr val="FF7200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0" y="19659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100" dirty="0">
                <a:solidFill>
                  <a:srgbClr val="FF7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FAILURE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686800" y="24688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 risky to trust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686800" y="3017520"/>
            <a:ext cx="3063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thousands of disks, something fails every day. One server means one failure wipes everything.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52578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004C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Hadoop's answer: stop scaling UP. Scale OUT across many cheap machines.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TMU  •  CIND119 DHA - Introduction to Big Data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201168" cy="201168"/>
          </a:xfrm>
          <a:prstGeom prst="rect">
            <a:avLst/>
          </a:prstGeom>
          <a:solidFill>
            <a:srgbClr val="FFDC00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310896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04C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Scale Up vs. Scale Out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41248" y="896112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architectural fork that defines Hadoop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212080" cy="3669500"/>
          </a:xfrm>
          <a:prstGeom prst="roundRect">
            <a:avLst>
              <a:gd name="adj" fmla="val 2162"/>
            </a:avLst>
          </a:prstGeom>
          <a:solidFill>
            <a:srgbClr val="EEF2F7"/>
          </a:solidFill>
          <a:ln w="12700">
            <a:solidFill>
              <a:srgbClr val="C9D3DF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8745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A647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SCALE UP  (vertical)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560320" y="2468880"/>
            <a:ext cx="1371600" cy="1737360"/>
          </a:xfrm>
          <a:prstGeom prst="rect">
            <a:avLst/>
          </a:prstGeom>
          <a:solidFill>
            <a:srgbClr val="5B6B7E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GIANT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438912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a bigger, costlier machine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Hits a hard ceiling — fast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point of failure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09360" y="1691640"/>
            <a:ext cx="5212080" cy="3669500"/>
          </a:xfrm>
          <a:prstGeom prst="roundRect">
            <a:avLst>
              <a:gd name="adj" fmla="val 2162"/>
            </a:avLst>
          </a:prstGeom>
          <a:solidFill>
            <a:srgbClr val="E7F0FB"/>
          </a:solidFill>
          <a:ln w="12700">
            <a:solidFill>
              <a:srgbClr val="004C9B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37960" y="18745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4C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SCALE OUT  (horizontal)  ← Hadoop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720840" y="2468880"/>
            <a:ext cx="868680" cy="777240"/>
          </a:xfrm>
          <a:prstGeom prst="rect">
            <a:avLst/>
          </a:prstGeom>
          <a:solidFill>
            <a:srgbClr val="004C9B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PC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863840" y="2468880"/>
            <a:ext cx="868680" cy="777240"/>
          </a:xfrm>
          <a:prstGeom prst="rect">
            <a:avLst/>
          </a:prstGeom>
          <a:solidFill>
            <a:srgbClr val="004C9B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PC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006840" y="2468880"/>
            <a:ext cx="868680" cy="777240"/>
          </a:xfrm>
          <a:prstGeom prst="rect">
            <a:avLst/>
          </a:prstGeom>
          <a:solidFill>
            <a:srgbClr val="004C9B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PC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149840" y="2468880"/>
            <a:ext cx="868680" cy="777240"/>
          </a:xfrm>
          <a:prstGeom prst="rect">
            <a:avLst/>
          </a:prstGeom>
          <a:solidFill>
            <a:srgbClr val="004C9B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PC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720840" y="3474720"/>
            <a:ext cx="868680" cy="777240"/>
          </a:xfrm>
          <a:prstGeom prst="rect">
            <a:avLst/>
          </a:prstGeom>
          <a:solidFill>
            <a:srgbClr val="004C9B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PC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863840" y="3474720"/>
            <a:ext cx="868680" cy="777240"/>
          </a:xfrm>
          <a:prstGeom prst="rect">
            <a:avLst/>
          </a:prstGeom>
          <a:solidFill>
            <a:srgbClr val="004C9B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PC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006840" y="3474720"/>
            <a:ext cx="868680" cy="777240"/>
          </a:xfrm>
          <a:prstGeom prst="rect">
            <a:avLst/>
          </a:prstGeom>
          <a:solidFill>
            <a:srgbClr val="004C9B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PC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149840" y="3474720"/>
            <a:ext cx="868680" cy="777240"/>
          </a:xfrm>
          <a:prstGeom prst="rect">
            <a:avLst/>
          </a:prstGeom>
          <a:solidFill>
            <a:srgbClr val="004C9B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PC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37960" y="438912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cheap commodity machines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Near-linear, almost unlimited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Survives node failure by design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TMU  •  CIND119 DHA - Introduction to Big Data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201168" cy="201168"/>
          </a:xfrm>
          <a:prstGeom prst="rect">
            <a:avLst/>
          </a:prstGeom>
          <a:solidFill>
            <a:srgbClr val="FFDC00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310896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04C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Real Scenario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41248" y="896112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retailer — why a single server gives up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3840480" cy="3291840"/>
          </a:xfrm>
          <a:prstGeom prst="roundRect">
            <a:avLst>
              <a:gd name="adj" fmla="val 2222"/>
            </a:avLst>
          </a:prstGeom>
          <a:solidFill>
            <a:srgbClr val="EEF2F7"/>
          </a:solidFill>
          <a:ln w="12700">
            <a:solidFill>
              <a:srgbClr val="C9D3DF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8288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7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SITUATION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2194560"/>
            <a:ext cx="33832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 stores nationwide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transactions every day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of history to keep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'Which products sell together, by region, by season?'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46320" y="2331720"/>
            <a:ext cx="1920240" cy="914400"/>
          </a:xfrm>
          <a:prstGeom prst="rect">
            <a:avLst/>
          </a:prstGeom>
          <a:solidFill>
            <a:srgbClr val="5B6B7E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Terabytes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 daily logs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0" y="2788920"/>
            <a:ext cx="640080" cy="0"/>
          </a:xfrm>
          <a:prstGeom prst="line">
            <a:avLst/>
          </a:prstGeom>
          <a:noFill/>
          <a:ln w="28575">
            <a:solidFill>
              <a:srgbClr val="004C9B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7589520" y="1828800"/>
            <a:ext cx="1828800" cy="914400"/>
          </a:xfrm>
          <a:prstGeom prst="rect">
            <a:avLst/>
          </a:prstGeom>
          <a:solidFill>
            <a:srgbClr val="B0392E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Single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589520" y="288036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B03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Won't fit on disk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B03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Scan takes days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B03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One crash = data lost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46920" y="1828800"/>
            <a:ext cx="1874520" cy="914400"/>
          </a:xfrm>
          <a:prstGeom prst="rect">
            <a:avLst/>
          </a:prstGeom>
          <a:solidFill>
            <a:srgbClr val="004C9B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Hadoop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cluster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46920" y="288036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E7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Stored across nodes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E7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Scanned in parallel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E7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Survives failures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52120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004C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Same data — two architectures. Distributed storage + parallel processing is the only path that scales.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TMU  •  CIND119 DHA - Introduction to Big Data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201168" cy="201168"/>
          </a:xfrm>
          <a:prstGeom prst="rect">
            <a:avLst/>
          </a:prstGeom>
          <a:solidFill>
            <a:srgbClr val="FFDC00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310896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04C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Hadoop?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41248" y="896112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open-source framework for distributed data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10881360" cy="1143000"/>
          </a:xfrm>
          <a:prstGeom prst="roundRect">
            <a:avLst>
              <a:gd name="adj" fmla="val 6400"/>
            </a:avLst>
          </a:prstGeom>
          <a:solidFill>
            <a:srgbClr val="E7F0FB"/>
          </a:solidFill>
          <a:ln w="12700">
            <a:solidFill>
              <a:srgbClr val="004C9B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73736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Hadoop lets you store and process very large datasets across clusters of ordinary computers — and it detects and recovers from hardware failure in software, not hardware.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3063240"/>
            <a:ext cx="534924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C9D3DF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324612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4C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IDEA 1 — Distributed Storage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3703320"/>
            <a:ext cx="4892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each file into blocks and spread copies across many machines. That layer is HDFS.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126480" y="3063240"/>
            <a:ext cx="534924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C9D3DF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55080" y="324612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4C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IDEA 2 — Distributed Processing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55080" y="3703320"/>
            <a:ext cx="4892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the computation to the machines that already hold the data, and run it in parallel. That's MapReduce, scheduled by YARN.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TMU  •  CIND119 DHA - Introduction to Big Data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201168" cy="201168"/>
          </a:xfrm>
          <a:prstGeom prst="rect">
            <a:avLst/>
          </a:prstGeom>
          <a:solidFill>
            <a:srgbClr val="FFDC00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310896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04C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Hadoop Came From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41248" y="896112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two Google papers to an industry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914400" y="2377440"/>
            <a:ext cx="10332720" cy="0"/>
          </a:xfrm>
          <a:prstGeom prst="line">
            <a:avLst/>
          </a:prstGeom>
          <a:noFill/>
          <a:ln w="38100">
            <a:solidFill>
              <a:srgbClr val="004C9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2258568"/>
            <a:ext cx="237744" cy="237744"/>
          </a:xfrm>
          <a:prstGeom prst="ellipse">
            <a:avLst/>
          </a:prstGeom>
          <a:solidFill>
            <a:srgbClr val="FFDC00"/>
          </a:solidFill>
          <a:ln w="25400">
            <a:solidFill>
              <a:srgbClr val="004C9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1691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4C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2003–04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87552" y="50292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publishes the GFS and MapReduce papers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895344" y="2258568"/>
            <a:ext cx="237744" cy="237744"/>
          </a:xfrm>
          <a:prstGeom prst="ellipse">
            <a:avLst/>
          </a:prstGeom>
          <a:solidFill>
            <a:srgbClr val="FFDC00"/>
          </a:solidFill>
          <a:ln w="25400">
            <a:solidFill>
              <a:srgbClr val="004C9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99816" y="2697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4C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2006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054096" y="306324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Doug Cutting &amp; Mike Cafarella build Hadoop — named after a toy elephant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961888" y="2258568"/>
            <a:ext cx="237744" cy="237744"/>
          </a:xfrm>
          <a:prstGeom prst="ellipse">
            <a:avLst/>
          </a:prstGeom>
          <a:solidFill>
            <a:srgbClr val="FFDC00"/>
          </a:solidFill>
          <a:ln w="25400">
            <a:solidFill>
              <a:srgbClr val="004C9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66360" y="1691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4C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2008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120640" y="50292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Top-level Apache project; powers Yahoo, then Facebook &amp; banks at web scale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28432" y="2258568"/>
            <a:ext cx="237744" cy="237744"/>
          </a:xfrm>
          <a:prstGeom prst="ellipse">
            <a:avLst/>
          </a:prstGeom>
          <a:solidFill>
            <a:srgbClr val="FFDC00"/>
          </a:solidFill>
          <a:ln w="25400">
            <a:solidFill>
              <a:srgbClr val="004C9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32904" y="2697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4C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2013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187184" y="306324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Hadoop 2.0 goes GA — adds YARN &amp; NameNode HA; block default 64 → 128 MB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10094976" y="2258568"/>
            <a:ext cx="237744" cy="237744"/>
          </a:xfrm>
          <a:prstGeom prst="ellipse">
            <a:avLst/>
          </a:prstGeom>
          <a:solidFill>
            <a:srgbClr val="FF7200"/>
          </a:solidFill>
          <a:ln w="25400">
            <a:solidFill>
              <a:srgbClr val="004C9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99448" y="1691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4C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2026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253728" y="50292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Hadoop 3.5 — Java 17, cloud-storage connectors; now a mature foundation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TMU  •  CIND119 DHA - Introduction to Big Data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201168" cy="201168"/>
          </a:xfrm>
          <a:prstGeom prst="rect">
            <a:avLst/>
          </a:prstGeom>
          <a:solidFill>
            <a:srgbClr val="FFDC00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310896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04C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Four Core Modules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41248" y="896112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 is built on these pillars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10881360" cy="685800"/>
          </a:xfrm>
          <a:prstGeom prst="rect">
            <a:avLst/>
          </a:prstGeom>
          <a:solidFill>
            <a:srgbClr val="004C9B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MapReduce  —  parallel batch processing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651760"/>
            <a:ext cx="10881360" cy="685800"/>
          </a:xfrm>
          <a:prstGeom prst="rect">
            <a:avLst/>
          </a:prstGeom>
          <a:solidFill>
            <a:srgbClr val="1C5FA8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YARN  —  cluster resource management &amp; job scheduling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520440"/>
            <a:ext cx="10881360" cy="685800"/>
          </a:xfrm>
          <a:prstGeom prst="rect">
            <a:avLst/>
          </a:prstGeom>
          <a:solidFill>
            <a:srgbClr val="3A78BC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HDFS  —  distributed, fault-tolerant storage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4389120"/>
            <a:ext cx="10881360" cy="640080"/>
          </a:xfrm>
          <a:prstGeom prst="rect">
            <a:avLst/>
          </a:prstGeom>
          <a:solidFill>
            <a:srgbClr val="5B6B7E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Hadoop Common  —  shared libraries &amp; utilities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875520" y="18013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processing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875520" y="39776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storage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52578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it bottom-up: storage at the base, resources in the middle, computation on top. Today MapReduce is often swapped for Spark — but HDFS and YARN remain.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TMU  •  CIND119 DHA - Introduction to Big Data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201168" cy="201168"/>
          </a:xfrm>
          <a:prstGeom prst="rect">
            <a:avLst/>
          </a:prstGeom>
          <a:solidFill>
            <a:srgbClr val="FFDC00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310896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04C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Hadoop Ecosystem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41248" y="896112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zoo of tools, grouped by what they do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9D3DF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00200"/>
            <a:ext cx="3611880" cy="384048"/>
          </a:xfrm>
          <a:prstGeom prst="rect">
            <a:avLst/>
          </a:prstGeom>
          <a:solidFill>
            <a:srgbClr val="5B6B7E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636776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INGESTION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2167128"/>
            <a:ext cx="960120" cy="566928"/>
          </a:xfrm>
          <a:prstGeom prst="rect">
            <a:avLst/>
          </a:prstGeom>
          <a:solidFill>
            <a:srgbClr val="EEF2F7"/>
          </a:solidFill>
          <a:ln w="12700">
            <a:solidFill>
              <a:srgbClr val="C9D3DF"/>
            </a:solidFill>
          </a:ln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Sqoop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874520" y="2167128"/>
            <a:ext cx="960120" cy="566928"/>
          </a:xfrm>
          <a:prstGeom prst="rect">
            <a:avLst/>
          </a:prstGeom>
          <a:solidFill>
            <a:srgbClr val="EEF2F7"/>
          </a:solidFill>
          <a:ln w="12700">
            <a:solidFill>
              <a:srgbClr val="C9D3DF"/>
            </a:solidFill>
          </a:ln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Flume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926080" y="2167128"/>
            <a:ext cx="960120" cy="566928"/>
          </a:xfrm>
          <a:prstGeom prst="rect">
            <a:avLst/>
          </a:prstGeom>
          <a:solidFill>
            <a:srgbClr val="EEF2F7"/>
          </a:solidFill>
          <a:ln w="12700">
            <a:solidFill>
              <a:srgbClr val="C9D3DF"/>
            </a:solidFill>
          </a:ln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26280" y="160020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9D3DF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26280" y="1600200"/>
            <a:ext cx="3611880" cy="384048"/>
          </a:xfrm>
          <a:prstGeom prst="rect">
            <a:avLst/>
          </a:prstGeom>
          <a:solidFill>
            <a:srgbClr val="3A78BC"/>
          </a:solidFill>
          <a:ln/>
        </p:spPr>
      </p:sp>
      <p:sp>
        <p:nvSpPr>
          <p:cNvPr id="13" name="Text 11"/>
          <p:cNvSpPr/>
          <p:nvPr/>
        </p:nvSpPr>
        <p:spPr>
          <a:xfrm>
            <a:off x="4709160" y="1636776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STORAGE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709160" y="2167128"/>
            <a:ext cx="1485900" cy="566928"/>
          </a:xfrm>
          <a:prstGeom prst="rect">
            <a:avLst/>
          </a:prstGeom>
          <a:solidFill>
            <a:srgbClr val="EEF2F7"/>
          </a:solidFill>
          <a:ln w="12700">
            <a:solidFill>
              <a:srgbClr val="C9D3DF"/>
            </a:solidFill>
          </a:ln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286500" y="2167128"/>
            <a:ext cx="1485900" cy="566928"/>
          </a:xfrm>
          <a:prstGeom prst="rect">
            <a:avLst/>
          </a:prstGeom>
          <a:solidFill>
            <a:srgbClr val="EEF2F7"/>
          </a:solidFill>
          <a:ln w="12700">
            <a:solidFill>
              <a:srgbClr val="C9D3DF"/>
            </a:solidFill>
          </a:ln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HBase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412480" y="160020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9D3DF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12480" y="1600200"/>
            <a:ext cx="3611880" cy="384048"/>
          </a:xfrm>
          <a:prstGeom prst="rect">
            <a:avLst/>
          </a:prstGeom>
          <a:solidFill>
            <a:srgbClr val="004C9B"/>
          </a:solidFill>
          <a:ln/>
        </p:spPr>
      </p:sp>
      <p:sp>
        <p:nvSpPr>
          <p:cNvPr id="18" name="Text 16"/>
          <p:cNvSpPr/>
          <p:nvPr/>
        </p:nvSpPr>
        <p:spPr>
          <a:xfrm>
            <a:off x="8595360" y="1636776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PROCESSING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595360" y="2167128"/>
            <a:ext cx="697230" cy="566928"/>
          </a:xfrm>
          <a:prstGeom prst="rect">
            <a:avLst/>
          </a:prstGeom>
          <a:solidFill>
            <a:srgbClr val="EEF2F7"/>
          </a:solidFill>
          <a:ln w="12700">
            <a:solidFill>
              <a:srgbClr val="C9D3DF"/>
            </a:solidFill>
          </a:ln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MapReduce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9384030" y="2167128"/>
            <a:ext cx="697230" cy="566928"/>
          </a:xfrm>
          <a:prstGeom prst="rect">
            <a:avLst/>
          </a:prstGeom>
          <a:solidFill>
            <a:srgbClr val="EEF2F7"/>
          </a:solidFill>
          <a:ln w="12700">
            <a:solidFill>
              <a:srgbClr val="C9D3DF"/>
            </a:solidFill>
          </a:ln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172700" y="2167128"/>
            <a:ext cx="697230" cy="566928"/>
          </a:xfrm>
          <a:prstGeom prst="rect">
            <a:avLst/>
          </a:prstGeom>
          <a:solidFill>
            <a:srgbClr val="EEF2F7"/>
          </a:solidFill>
          <a:ln w="12700">
            <a:solidFill>
              <a:srgbClr val="C9D3DF"/>
            </a:solidFill>
          </a:ln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Tez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0961370" y="2167128"/>
            <a:ext cx="697230" cy="566928"/>
          </a:xfrm>
          <a:prstGeom prst="rect">
            <a:avLst/>
          </a:prstGeom>
          <a:solidFill>
            <a:srgbClr val="EEF2F7"/>
          </a:solidFill>
          <a:ln w="12700">
            <a:solidFill>
              <a:srgbClr val="C9D3DF"/>
            </a:solidFill>
          </a:ln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Flink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40080" y="3273552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9D3DF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0080" y="3273552"/>
            <a:ext cx="3611880" cy="384048"/>
          </a:xfrm>
          <a:prstGeom prst="rect">
            <a:avLst/>
          </a:prstGeom>
          <a:solidFill>
            <a:srgbClr val="1C5FA8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3310128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QUERY / ANALYTICS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22960" y="3840480"/>
            <a:ext cx="960120" cy="566928"/>
          </a:xfrm>
          <a:prstGeom prst="rect">
            <a:avLst/>
          </a:prstGeom>
          <a:solidFill>
            <a:srgbClr val="EEF2F7"/>
          </a:solidFill>
          <a:ln w="12700">
            <a:solidFill>
              <a:srgbClr val="C9D3DF"/>
            </a:solidFill>
          </a:ln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874520" y="3840480"/>
            <a:ext cx="960120" cy="566928"/>
          </a:xfrm>
          <a:prstGeom prst="rect">
            <a:avLst/>
          </a:prstGeom>
          <a:solidFill>
            <a:srgbClr val="EEF2F7"/>
          </a:solidFill>
          <a:ln w="12700">
            <a:solidFill>
              <a:srgbClr val="C9D3DF"/>
            </a:solidFill>
          </a:ln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Pig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926080" y="3840480"/>
            <a:ext cx="960120" cy="566928"/>
          </a:xfrm>
          <a:prstGeom prst="rect">
            <a:avLst/>
          </a:prstGeom>
          <a:solidFill>
            <a:srgbClr val="EEF2F7"/>
          </a:solidFill>
          <a:ln w="12700">
            <a:solidFill>
              <a:srgbClr val="C9D3DF"/>
            </a:solidFill>
          </a:ln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Impala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26280" y="3273552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9D3DF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26280" y="3273552"/>
            <a:ext cx="3611880" cy="384048"/>
          </a:xfrm>
          <a:prstGeom prst="rect">
            <a:avLst/>
          </a:prstGeom>
          <a:solidFill>
            <a:srgbClr val="5B6B7E"/>
          </a:solidFill>
          <a:ln/>
        </p:spPr>
      </p:sp>
      <p:sp>
        <p:nvSpPr>
          <p:cNvPr id="31" name="Text 29"/>
          <p:cNvSpPr/>
          <p:nvPr/>
        </p:nvSpPr>
        <p:spPr>
          <a:xfrm>
            <a:off x="4709160" y="3310128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COORDINATION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709160" y="3840480"/>
            <a:ext cx="960120" cy="566928"/>
          </a:xfrm>
          <a:prstGeom prst="rect">
            <a:avLst/>
          </a:prstGeom>
          <a:solidFill>
            <a:srgbClr val="EEF2F7"/>
          </a:solidFill>
          <a:ln w="12700">
            <a:solidFill>
              <a:srgbClr val="C9D3DF"/>
            </a:solidFill>
          </a:ln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YARN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760720" y="3840480"/>
            <a:ext cx="960120" cy="566928"/>
          </a:xfrm>
          <a:prstGeom prst="rect">
            <a:avLst/>
          </a:prstGeom>
          <a:solidFill>
            <a:srgbClr val="EEF2F7"/>
          </a:solidFill>
          <a:ln w="12700">
            <a:solidFill>
              <a:srgbClr val="C9D3DF"/>
            </a:solidFill>
          </a:ln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ZooKeeper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812280" y="3840480"/>
            <a:ext cx="960120" cy="566928"/>
          </a:xfrm>
          <a:prstGeom prst="rect">
            <a:avLst/>
          </a:prstGeom>
          <a:solidFill>
            <a:srgbClr val="EEF2F7"/>
          </a:solidFill>
          <a:ln w="12700">
            <a:solidFill>
              <a:srgbClr val="C9D3DF"/>
            </a:solidFill>
          </a:ln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Oozie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8412480" y="3273552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9D3DF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412480" y="3273552"/>
            <a:ext cx="3611880" cy="384048"/>
          </a:xfrm>
          <a:prstGeom prst="rect">
            <a:avLst/>
          </a:prstGeom>
          <a:solidFill>
            <a:srgbClr val="6B7B8C"/>
          </a:solidFill>
          <a:ln/>
        </p:spPr>
      </p:sp>
      <p:sp>
        <p:nvSpPr>
          <p:cNvPr id="37" name="Text 35"/>
          <p:cNvSpPr/>
          <p:nvPr/>
        </p:nvSpPr>
        <p:spPr>
          <a:xfrm>
            <a:off x="8595360" y="3310128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FILE FORMATS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8595360" y="3840480"/>
            <a:ext cx="960120" cy="566928"/>
          </a:xfrm>
          <a:prstGeom prst="rect">
            <a:avLst/>
          </a:prstGeom>
          <a:solidFill>
            <a:srgbClr val="EEF2F7"/>
          </a:solidFill>
          <a:ln w="12700">
            <a:solidFill>
              <a:srgbClr val="C9D3DF"/>
            </a:solidFill>
          </a:ln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9646920" y="3840480"/>
            <a:ext cx="960120" cy="566928"/>
          </a:xfrm>
          <a:prstGeom prst="rect">
            <a:avLst/>
          </a:prstGeom>
          <a:solidFill>
            <a:srgbClr val="EEF2F7"/>
          </a:solidFill>
          <a:ln w="12700">
            <a:solidFill>
              <a:srgbClr val="C9D3DF"/>
            </a:solidFill>
          </a:ln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10698480" y="3840480"/>
            <a:ext cx="960120" cy="566928"/>
          </a:xfrm>
          <a:prstGeom prst="rect">
            <a:avLst/>
          </a:prstGeom>
          <a:solidFill>
            <a:srgbClr val="EEF2F7"/>
          </a:solidFill>
          <a:ln w="12700">
            <a:solidFill>
              <a:srgbClr val="C9D3DF"/>
            </a:solidFill>
          </a:ln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Avro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40080" y="544068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i="1" dirty="0">
                <a:solidFill>
                  <a:srgbClr val="FF7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(processing) now frequently replaces MapReduce — same cluster, far faster. We return to this at the end.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TMU  •  CIND119 DHA - Introduction to Big Data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201168" cy="201168"/>
          </a:xfrm>
          <a:prstGeom prst="rect">
            <a:avLst/>
          </a:prstGeom>
          <a:solidFill>
            <a:srgbClr val="FFDC00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310896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04C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World of Hadoop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41248" y="896112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uses it, and how they reach it today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539496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C9D3DF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8288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4C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IT'S USED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240280"/>
            <a:ext cx="49377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giants — search indexes, social feeds, recommendation logs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&amp; telecom — fraud detection, call-record analytics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&amp; healthcare — behaviour, supply chain, records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 under most enterprise data lakes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17920" y="1645920"/>
            <a:ext cx="5303520" cy="3383280"/>
          </a:xfrm>
          <a:prstGeom prst="roundRect">
            <a:avLst>
              <a:gd name="adj" fmla="val 2162"/>
            </a:avLst>
          </a:prstGeom>
          <a:solidFill>
            <a:srgbClr val="E7F0FB"/>
          </a:solidFill>
          <a:ln w="12700">
            <a:solidFill>
              <a:srgbClr val="004C9B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46520" y="18288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4C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IT'S RUN IN 2026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46520" y="2212848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teams no longer rack their own clusters — they rent managed Hadoop/Spark from the cloud: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46520" y="3063240"/>
            <a:ext cx="1508760" cy="640080"/>
          </a:xfrm>
          <a:prstGeom prst="rect">
            <a:avLst/>
          </a:prstGeom>
          <a:solidFill>
            <a:srgbClr val="004C9B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AWS EMR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074152" y="3063240"/>
            <a:ext cx="1508760" cy="640080"/>
          </a:xfrm>
          <a:prstGeom prst="rect">
            <a:avLst/>
          </a:prstGeom>
          <a:solidFill>
            <a:srgbClr val="004C9B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Azure HDInsight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701784" y="3063240"/>
            <a:ext cx="1508760" cy="640080"/>
          </a:xfrm>
          <a:prstGeom prst="rect">
            <a:avLst/>
          </a:prstGeom>
          <a:solidFill>
            <a:srgbClr val="004C9B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Google Dataproc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46520" y="393192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services handle setup, scaling, and failures — you bring the data and the questions.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TMU  •  CIND119 DHA - Introduction to Big Data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34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FDC00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2860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FFDC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DEEP DIVE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27432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HDFS Works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14400" y="3840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Storing one big file safely across many unreliable machines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BC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TMU  •  CIND119 DHA - Introduction to Big Data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BC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201168" cy="201168"/>
          </a:xfrm>
          <a:prstGeom prst="rect">
            <a:avLst/>
          </a:prstGeom>
          <a:solidFill>
            <a:srgbClr val="FFDC00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310896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04C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HDFS Architecture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41248" y="896112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master for metadata, many workers for data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023360" y="1554480"/>
            <a:ext cx="4114800" cy="868680"/>
          </a:xfrm>
          <a:prstGeom prst="rect">
            <a:avLst/>
          </a:prstGeom>
          <a:solidFill>
            <a:srgbClr val="004C9B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NameNode  (master)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023360" y="246888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directory of the filesystem: which blocks make up each file, and which DataNode holds each block. Holds no file data itself.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97280" y="3886200"/>
            <a:ext cx="2194560" cy="960120"/>
          </a:xfrm>
          <a:prstGeom prst="rect">
            <a:avLst/>
          </a:prstGeom>
          <a:solidFill>
            <a:srgbClr val="5B6B7E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DataNode 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4892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blocks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194560" y="2514600"/>
            <a:ext cx="0" cy="1344168"/>
          </a:xfrm>
          <a:prstGeom prst="line">
            <a:avLst/>
          </a:prstGeom>
          <a:noFill/>
          <a:ln w="19050">
            <a:solidFill>
              <a:srgbClr val="C9D3DF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3703320" y="3886200"/>
            <a:ext cx="2194560" cy="960120"/>
          </a:xfrm>
          <a:prstGeom prst="rect">
            <a:avLst/>
          </a:prstGeom>
          <a:solidFill>
            <a:srgbClr val="5B6B7E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DataNode 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703320" y="4892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blocks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00600" y="2768252"/>
            <a:ext cx="0" cy="1090516"/>
          </a:xfrm>
          <a:prstGeom prst="line">
            <a:avLst/>
          </a:prstGeom>
          <a:noFill/>
          <a:ln w="19050">
            <a:solidFill>
              <a:srgbClr val="C9D3DF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6309360" y="3886200"/>
            <a:ext cx="2194560" cy="960120"/>
          </a:xfrm>
          <a:prstGeom prst="rect">
            <a:avLst/>
          </a:prstGeom>
          <a:solidFill>
            <a:srgbClr val="5B6B7E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DataNode 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09360" y="4892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blocks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406640" y="2768252"/>
            <a:ext cx="0" cy="1090516"/>
          </a:xfrm>
          <a:prstGeom prst="line">
            <a:avLst/>
          </a:prstGeom>
          <a:noFill/>
          <a:ln w="19050">
            <a:solidFill>
              <a:srgbClr val="C9D3DF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8915400" y="3886200"/>
            <a:ext cx="2194560" cy="960120"/>
          </a:xfrm>
          <a:prstGeom prst="rect">
            <a:avLst/>
          </a:prstGeom>
          <a:solidFill>
            <a:srgbClr val="5B6B7E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DataNode 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915400" y="4892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blocks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0012680" y="2514600"/>
            <a:ext cx="0" cy="1344168"/>
          </a:xfrm>
          <a:prstGeom prst="line">
            <a:avLst/>
          </a:prstGeom>
          <a:noFill/>
          <a:ln w="19050">
            <a:solidFill>
              <a:srgbClr val="C9D3DF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1097280" y="32918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04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heartbeats &amp; block reports  ↑↑↑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TMU  •  CIND119 DHA - Introduction to Big Data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201168" cy="201168"/>
          </a:xfrm>
          <a:prstGeom prst="rect">
            <a:avLst/>
          </a:prstGeom>
          <a:solidFill>
            <a:srgbClr val="FFDC00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310896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04C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Files Become Blocks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41248" y="896112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block size: 128 MB  (was 64 MB before Hadoop 2)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2743200" cy="914400"/>
          </a:xfrm>
          <a:prstGeom prst="rect">
            <a:avLst/>
          </a:prstGeom>
          <a:solidFill>
            <a:srgbClr val="004C9B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GB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 file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0" y="2286000"/>
            <a:ext cx="640080" cy="0"/>
          </a:xfrm>
          <a:prstGeom prst="line">
            <a:avLst/>
          </a:prstGeom>
          <a:noFill/>
          <a:ln w="28575">
            <a:solidFill>
              <a:srgbClr val="004C9B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4526280" y="1874520"/>
            <a:ext cx="841248" cy="841248"/>
          </a:xfrm>
          <a:prstGeom prst="rect">
            <a:avLst/>
          </a:prstGeom>
          <a:solidFill>
            <a:srgbClr val="3A78BC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77256" y="1874520"/>
            <a:ext cx="841248" cy="841248"/>
          </a:xfrm>
          <a:prstGeom prst="rect">
            <a:avLst/>
          </a:prstGeom>
          <a:solidFill>
            <a:srgbClr val="3A78BC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28232" y="1874520"/>
            <a:ext cx="841248" cy="841248"/>
          </a:xfrm>
          <a:prstGeom prst="rect">
            <a:avLst/>
          </a:prstGeom>
          <a:solidFill>
            <a:srgbClr val="3A78BC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B3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79208" y="1874520"/>
            <a:ext cx="841248" cy="841248"/>
          </a:xfrm>
          <a:prstGeom prst="rect">
            <a:avLst/>
          </a:prstGeom>
          <a:solidFill>
            <a:srgbClr val="3A78BC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B4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26280" y="2825496"/>
            <a:ext cx="841248" cy="841248"/>
          </a:xfrm>
          <a:prstGeom prst="rect">
            <a:avLst/>
          </a:prstGeom>
          <a:solidFill>
            <a:srgbClr val="3A78BC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B5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77256" y="2825496"/>
            <a:ext cx="841248" cy="841248"/>
          </a:xfrm>
          <a:prstGeom prst="rect">
            <a:avLst/>
          </a:prstGeom>
          <a:solidFill>
            <a:srgbClr val="3A78BC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B6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28232" y="2825496"/>
            <a:ext cx="841248" cy="841248"/>
          </a:xfrm>
          <a:prstGeom prst="rect">
            <a:avLst/>
          </a:prstGeom>
          <a:solidFill>
            <a:srgbClr val="3A78BC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B7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79208" y="2825496"/>
            <a:ext cx="841248" cy="841248"/>
          </a:xfrm>
          <a:prstGeom prst="rect">
            <a:avLst/>
          </a:prstGeom>
          <a:solidFill>
            <a:srgbClr val="3A78BC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B8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26280" y="3602736"/>
            <a:ext cx="3803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004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blocks × 128 MB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" y="4160520"/>
            <a:ext cx="10515600" cy="1417320"/>
          </a:xfrm>
          <a:prstGeom prst="roundRect">
            <a:avLst>
              <a:gd name="adj" fmla="val 5161"/>
            </a:avLst>
          </a:prstGeom>
          <a:solidFill>
            <a:srgbClr val="EEF2F7"/>
          </a:solidFill>
          <a:ln w="12700">
            <a:solidFill>
              <a:srgbClr val="C9D3DF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97280" y="429768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4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fixed blocks? </a:t>
            </a: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pieces are easy to place, replicate, and process in parallel.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097280" y="489204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4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so large (128 MB)? </a:t>
            </a: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blocks mean less metadata for the NameNode and more time reading, less time seeking.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TMU  •  CIND119 DHA - Introduction to Big Data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201168" cy="201168"/>
          </a:xfrm>
          <a:prstGeom prst="rect">
            <a:avLst/>
          </a:prstGeom>
          <a:solidFill>
            <a:srgbClr val="FFDC00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310896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04C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Replication = Fault Tolerance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41248" y="896112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replication factor: 3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22960" y="1554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B1 is copied to three different DataNodes: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519172"/>
            <a:ext cx="2377440" cy="854964"/>
          </a:xfrm>
          <a:prstGeom prst="rect">
            <a:avLst/>
          </a:prstGeom>
          <a:solidFill>
            <a:srgbClr val="5B6B7E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DataNode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51560" y="3479292"/>
            <a:ext cx="1371600" cy="502920"/>
          </a:xfrm>
          <a:prstGeom prst="rect">
            <a:avLst/>
          </a:prstGeom>
          <a:solidFill>
            <a:srgbClr val="FFDC00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566160" y="2519172"/>
            <a:ext cx="2377440" cy="854964"/>
          </a:xfrm>
          <a:prstGeom prst="rect">
            <a:avLst/>
          </a:prstGeom>
          <a:solidFill>
            <a:srgbClr val="C7CDD4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B7B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DataNode 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9080" y="3479292"/>
            <a:ext cx="1371600" cy="502920"/>
          </a:xfrm>
          <a:prstGeom prst="rect">
            <a:avLst/>
          </a:prstGeom>
          <a:solidFill>
            <a:srgbClr val="C7CDD4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AA6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566160" y="210769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039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 FAILS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83680" y="2519172"/>
            <a:ext cx="2377440" cy="854964"/>
          </a:xfrm>
          <a:prstGeom prst="rect">
            <a:avLst/>
          </a:prstGeom>
          <a:solidFill>
            <a:srgbClr val="5B6B7E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DataNode 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086600" y="3479292"/>
            <a:ext cx="1371600" cy="502920"/>
          </a:xfrm>
          <a:prstGeom prst="rect">
            <a:avLst/>
          </a:prstGeom>
          <a:solidFill>
            <a:srgbClr val="FFDC00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0" y="2519172"/>
            <a:ext cx="2377440" cy="854964"/>
          </a:xfrm>
          <a:prstGeom prst="rect">
            <a:avLst/>
          </a:prstGeom>
          <a:solidFill>
            <a:srgbClr val="5B6B7E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DataNode 4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188720" y="4434840"/>
            <a:ext cx="9784080" cy="1143000"/>
          </a:xfrm>
          <a:prstGeom prst="roundRect">
            <a:avLst>
              <a:gd name="adj" fmla="val 6400"/>
            </a:avLst>
          </a:prstGeom>
          <a:solidFill>
            <a:srgbClr val="E7F0FB"/>
          </a:solidFill>
          <a:ln w="12700">
            <a:solidFill>
              <a:srgbClr val="004C9B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463040" y="4526280"/>
            <a:ext cx="9235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DataNode 2 dies — but two copies of B1 survive. The NameNode notices the missing heartbeat and copies B1 to DataNode 4, restoring the count of 3. No data lost, no human paged.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TMU  •  CIND119 DHA - Introduction to Big Data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201168" cy="201168"/>
          </a:xfrm>
          <a:prstGeom prst="rect">
            <a:avLst/>
          </a:prstGeom>
          <a:solidFill>
            <a:srgbClr val="FFDC00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310896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04C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Write Path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41248" y="896112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new file lands in HDFS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2121408" cy="3108960"/>
          </a:xfrm>
          <a:prstGeom prst="roundRect">
            <a:avLst>
              <a:gd name="adj" fmla="val 3448"/>
            </a:avLst>
          </a:prstGeom>
          <a:solidFill>
            <a:srgbClr val="EEF2F7"/>
          </a:solidFill>
          <a:ln w="12700">
            <a:solidFill>
              <a:srgbClr val="C9D3DF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408176" y="2011680"/>
            <a:ext cx="585216" cy="585216"/>
          </a:xfrm>
          <a:prstGeom prst="rect">
            <a:avLst/>
          </a:prstGeom>
          <a:solidFill>
            <a:srgbClr val="004C9B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49808" y="2743200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4C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Ask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4672" y="3200400"/>
            <a:ext cx="179222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tells the NameNode: 'I want to write file X.'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70632" y="3337560"/>
            <a:ext cx="146304" cy="0"/>
          </a:xfrm>
          <a:prstGeom prst="line">
            <a:avLst/>
          </a:prstGeom>
          <a:noFill/>
          <a:ln w="31750">
            <a:solidFill>
              <a:srgbClr val="FFDC0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926080" y="1783080"/>
            <a:ext cx="2121408" cy="31089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C9D3DF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94176" y="2011680"/>
            <a:ext cx="585216" cy="585216"/>
          </a:xfrm>
          <a:prstGeom prst="rect">
            <a:avLst/>
          </a:prstGeom>
          <a:solidFill>
            <a:srgbClr val="004C9B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035808" y="2743200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4C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Assign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090672" y="3200400"/>
            <a:ext cx="179222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NameNode replies with the DataNodes to use for each block.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56632" y="3337560"/>
            <a:ext cx="146304" cy="0"/>
          </a:xfrm>
          <a:prstGeom prst="line">
            <a:avLst/>
          </a:prstGeom>
          <a:noFill/>
          <a:ln w="31750">
            <a:solidFill>
              <a:srgbClr val="FFDC0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212080" y="1783080"/>
            <a:ext cx="2121408" cy="3108960"/>
          </a:xfrm>
          <a:prstGeom prst="roundRect">
            <a:avLst>
              <a:gd name="adj" fmla="val 3448"/>
            </a:avLst>
          </a:prstGeom>
          <a:solidFill>
            <a:srgbClr val="EEF2F7"/>
          </a:solidFill>
          <a:ln w="12700">
            <a:solidFill>
              <a:srgbClr val="C9D3DF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980176" y="2011680"/>
            <a:ext cx="585216" cy="585216"/>
          </a:xfrm>
          <a:prstGeom prst="rect">
            <a:avLst/>
          </a:prstGeom>
          <a:solidFill>
            <a:srgbClr val="004C9B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321808" y="2743200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4C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Stream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376672" y="3200400"/>
            <a:ext cx="179222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streams the block to the first DataNode.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42632" y="3337560"/>
            <a:ext cx="146304" cy="0"/>
          </a:xfrm>
          <a:prstGeom prst="line">
            <a:avLst/>
          </a:prstGeom>
          <a:noFill/>
          <a:ln w="31750">
            <a:solidFill>
              <a:srgbClr val="FFDC0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498080" y="1783080"/>
            <a:ext cx="2121408" cy="31089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C9D3DF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266176" y="2011680"/>
            <a:ext cx="585216" cy="585216"/>
          </a:xfrm>
          <a:prstGeom prst="rect">
            <a:avLst/>
          </a:prstGeom>
          <a:solidFill>
            <a:srgbClr val="004C9B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607808" y="2743200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4C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Pipeline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662672" y="3200400"/>
            <a:ext cx="179222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DataNode 1 → 2 → 3 forward copies down a pipeline.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628632" y="3337560"/>
            <a:ext cx="146304" cy="0"/>
          </a:xfrm>
          <a:prstGeom prst="line">
            <a:avLst/>
          </a:prstGeom>
          <a:noFill/>
          <a:ln w="31750">
            <a:solidFill>
              <a:srgbClr val="FFDC00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784080" y="1783080"/>
            <a:ext cx="2121408" cy="3108960"/>
          </a:xfrm>
          <a:prstGeom prst="roundRect">
            <a:avLst>
              <a:gd name="adj" fmla="val 3448"/>
            </a:avLst>
          </a:prstGeom>
          <a:solidFill>
            <a:srgbClr val="EEF2F7"/>
          </a:solidFill>
          <a:ln w="12700">
            <a:solidFill>
              <a:srgbClr val="C9D3DF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0552176" y="2011680"/>
            <a:ext cx="585216" cy="585216"/>
          </a:xfrm>
          <a:prstGeom prst="rect">
            <a:avLst/>
          </a:prstGeom>
          <a:solidFill>
            <a:srgbClr val="004C9B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893808" y="2743200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4C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Acknowledge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948672" y="3200400"/>
            <a:ext cx="179222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Acks travel back; NameNode records the block locations.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0080" y="52578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 writes once; HDFS quietly makes three copies along the pipeline.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TMU  •  CIND119 DHA - Introduction to Big Data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201168" cy="201168"/>
          </a:xfrm>
          <a:prstGeom prst="rect">
            <a:avLst/>
          </a:prstGeom>
          <a:solidFill>
            <a:srgbClr val="FFDC00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310896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04C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Read Path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41248" y="896112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is parallel — and prefers the nearest copy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22960" y="2743200"/>
            <a:ext cx="1920240" cy="914400"/>
          </a:xfrm>
          <a:prstGeom prst="rect">
            <a:avLst/>
          </a:prstGeom>
          <a:solidFill>
            <a:srgbClr val="004C9B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Client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0" y="1600200"/>
            <a:ext cx="2834640" cy="822960"/>
          </a:xfrm>
          <a:prstGeom prst="rect">
            <a:avLst/>
          </a:prstGeom>
          <a:solidFill>
            <a:srgbClr val="1C5FA8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NameNode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88920" y="2926080"/>
            <a:ext cx="822960" cy="0"/>
          </a:xfrm>
          <a:prstGeom prst="line">
            <a:avLst/>
          </a:prstGeom>
          <a:noFill/>
          <a:ln w="22225">
            <a:solidFill>
              <a:srgbClr val="5B6B7E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2277232" y="2240280"/>
            <a:ext cx="1380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where are the blocks?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0" y="2423160"/>
            <a:ext cx="0" cy="411480"/>
          </a:xfrm>
          <a:prstGeom prst="line">
            <a:avLst/>
          </a:prstGeom>
          <a:noFill/>
          <a:ln w="22225">
            <a:solidFill>
              <a:srgbClr val="004C9B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2788920" y="3396997"/>
            <a:ext cx="1171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04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list of DataNodes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0" y="1828800"/>
            <a:ext cx="2194560" cy="777240"/>
          </a:xfrm>
          <a:prstGeom prst="rect">
            <a:avLst/>
          </a:prstGeom>
          <a:solidFill>
            <a:srgbClr val="5B6B7E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DataNode 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01200" y="1938528"/>
            <a:ext cx="777240" cy="557784"/>
          </a:xfrm>
          <a:prstGeom prst="rect">
            <a:avLst/>
          </a:prstGeom>
          <a:solidFill>
            <a:srgbClr val="FFDC00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B1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88920" y="3154680"/>
            <a:ext cx="4480560" cy="0"/>
          </a:xfrm>
          <a:prstGeom prst="line">
            <a:avLst/>
          </a:prstGeom>
          <a:noFill/>
          <a:ln w="19050">
            <a:solidFill>
              <a:srgbClr val="3A78BC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7315200" y="2926080"/>
            <a:ext cx="2194560" cy="777240"/>
          </a:xfrm>
          <a:prstGeom prst="rect">
            <a:avLst/>
          </a:prstGeom>
          <a:solidFill>
            <a:srgbClr val="5B6B7E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DataNode 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0" y="3035808"/>
            <a:ext cx="777240" cy="557784"/>
          </a:xfrm>
          <a:prstGeom prst="rect">
            <a:avLst/>
          </a:prstGeom>
          <a:solidFill>
            <a:srgbClr val="FFDC00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88920" y="3154680"/>
            <a:ext cx="4480560" cy="160020"/>
          </a:xfrm>
          <a:prstGeom prst="line">
            <a:avLst/>
          </a:prstGeom>
          <a:noFill/>
          <a:ln w="19050">
            <a:solidFill>
              <a:srgbClr val="3A78BC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7315200" y="4023360"/>
            <a:ext cx="2194560" cy="777240"/>
          </a:xfrm>
          <a:prstGeom prst="rect">
            <a:avLst/>
          </a:prstGeom>
          <a:solidFill>
            <a:srgbClr val="5B6B7E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DataNode 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01200" y="4133088"/>
            <a:ext cx="777240" cy="557784"/>
          </a:xfrm>
          <a:prstGeom prst="rect">
            <a:avLst/>
          </a:prstGeom>
          <a:solidFill>
            <a:srgbClr val="FFDC00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B3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88920" y="3154680"/>
            <a:ext cx="4480560" cy="1257300"/>
          </a:xfrm>
          <a:prstGeom prst="line">
            <a:avLst/>
          </a:prstGeom>
          <a:noFill/>
          <a:ln w="19050">
            <a:solidFill>
              <a:srgbClr val="3A78BC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4206240" y="46177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3A7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read blocks in parallel, in the background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52578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NameNode returns locations sorted by network distance, so the client reads from the closest replica — often on the same rack.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TMU  •  CIND119 DHA - Introduction to Big Data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201168" cy="201168"/>
          </a:xfrm>
          <a:prstGeom prst="rect">
            <a:avLst/>
          </a:prstGeom>
          <a:solidFill>
            <a:srgbClr val="FFDC00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310896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04C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Rack Awareness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41248" y="896112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Spreading copies so a whole rack can fail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1828800" y="1828800"/>
            <a:ext cx="3840480" cy="2651760"/>
          </a:xfrm>
          <a:prstGeom prst="roundRect">
            <a:avLst>
              <a:gd name="adj" fmla="val 2759"/>
            </a:avLst>
          </a:prstGeom>
          <a:solidFill>
            <a:srgbClr val="EEF2F7"/>
          </a:solidFill>
          <a:ln w="12700">
            <a:solidFill>
              <a:srgbClr val="C9D3DF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011680" y="19659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4C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Rack 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286000" y="2606040"/>
            <a:ext cx="1371600" cy="822960"/>
          </a:xfrm>
          <a:prstGeom prst="rect">
            <a:avLst/>
          </a:prstGeom>
          <a:solidFill>
            <a:srgbClr val="5B6B7E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DataNode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931920" y="2606040"/>
            <a:ext cx="1371600" cy="822960"/>
          </a:xfrm>
          <a:prstGeom prst="rect">
            <a:avLst/>
          </a:prstGeom>
          <a:solidFill>
            <a:srgbClr val="5B6B7E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DataNode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011680" y="3749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copies here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949440" y="1828800"/>
            <a:ext cx="3840480" cy="2651760"/>
          </a:xfrm>
          <a:prstGeom prst="roundRect">
            <a:avLst>
              <a:gd name="adj" fmla="val 2759"/>
            </a:avLst>
          </a:prstGeom>
          <a:solidFill>
            <a:srgbClr val="EEF2F7"/>
          </a:solidFill>
          <a:ln w="12700">
            <a:solidFill>
              <a:srgbClr val="C9D3DF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132320" y="19659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4C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Rack B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406640" y="2606040"/>
            <a:ext cx="1371600" cy="822960"/>
          </a:xfrm>
          <a:prstGeom prst="rect">
            <a:avLst/>
          </a:prstGeom>
          <a:solidFill>
            <a:srgbClr val="5B6B7E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DataNode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052560" y="2606040"/>
            <a:ext cx="1371600" cy="822960"/>
          </a:xfrm>
          <a:prstGeom prst="rect">
            <a:avLst/>
          </a:prstGeom>
          <a:solidFill>
            <a:srgbClr val="5B6B7E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DataNode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132320" y="3749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copy here (different rack)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48920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placement: 2 replicas on one rack (fast), 1 on another rack (safe). Lose an entire rack — switch, power, or all — and a copy still survives elsewhere.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TMU  •  CIND119 DHA - Introduction to Big Data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201168" cy="201168"/>
          </a:xfrm>
          <a:prstGeom prst="rect">
            <a:avLst/>
          </a:prstGeom>
          <a:solidFill>
            <a:srgbClr val="FFDC00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310896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04C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Putting It Together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41248" y="896112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Storing one 1 GB web-server log, safely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2606040" cy="1188720"/>
          </a:xfrm>
          <a:prstGeom prst="rect">
            <a:avLst/>
          </a:prstGeom>
          <a:solidFill>
            <a:srgbClr val="004C9B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GB file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313639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log file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01568" y="2468880"/>
            <a:ext cx="283464" cy="0"/>
          </a:xfrm>
          <a:prstGeom prst="line">
            <a:avLst/>
          </a:prstGeom>
          <a:noFill/>
          <a:ln w="38100">
            <a:solidFill>
              <a:srgbClr val="FFDC00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3703320" y="1874520"/>
            <a:ext cx="2606040" cy="1188720"/>
          </a:xfrm>
          <a:prstGeom prst="rect">
            <a:avLst/>
          </a:prstGeom>
          <a:solidFill>
            <a:srgbClr val="3A78BC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 blocks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703320" y="313639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÷ 128 MB each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27648" y="2468880"/>
            <a:ext cx="283464" cy="0"/>
          </a:xfrm>
          <a:prstGeom prst="line">
            <a:avLst/>
          </a:prstGeom>
          <a:noFill/>
          <a:ln w="38100">
            <a:solidFill>
              <a:srgbClr val="FFDC00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6629400" y="1874520"/>
            <a:ext cx="2606040" cy="1188720"/>
          </a:xfrm>
          <a:prstGeom prst="rect">
            <a:avLst/>
          </a:prstGeom>
          <a:solidFill>
            <a:srgbClr val="1C5FA8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× 3 replicas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629400" y="313639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24 block copies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253728" y="2468880"/>
            <a:ext cx="283464" cy="0"/>
          </a:xfrm>
          <a:prstGeom prst="line">
            <a:avLst/>
          </a:prstGeom>
          <a:noFill/>
          <a:ln w="38100">
            <a:solidFill>
              <a:srgbClr val="FFDC00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9555480" y="1874520"/>
            <a:ext cx="2606040" cy="1188720"/>
          </a:xfrm>
          <a:prstGeom prst="rect">
            <a:avLst/>
          </a:prstGeom>
          <a:solidFill>
            <a:srgbClr val="5B6B7E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spread out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555480" y="313639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nodes &amp; racks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" y="4114800"/>
            <a:ext cx="10607040" cy="1417320"/>
          </a:xfrm>
          <a:prstGeom prst="roundRect">
            <a:avLst>
              <a:gd name="adj" fmla="val 5161"/>
            </a:avLst>
          </a:prstGeom>
          <a:solidFill>
            <a:srgbClr val="E7F0FB"/>
          </a:solidFill>
          <a:ln w="12700">
            <a:solidFill>
              <a:srgbClr val="004C9B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51560" y="42245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4C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result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457200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Survives node loss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(copies elsewhere)   </a:t>
            </a: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Survives rack loss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(copies on another rack)   </a:t>
            </a: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fast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(8 blocks fetched in parallel)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TMU  •  CIND119 DHA - Introduction to Big Data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04C9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FDC00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0574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300" dirty="0">
                <a:solidFill>
                  <a:srgbClr val="FFDC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26060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Hadoop MapReduce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914400" y="3886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data where it already lives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BC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TMU  •  CIND119 DHA - Introduction to Big Data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BC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201168" cy="201168"/>
          </a:xfrm>
          <a:prstGeom prst="rect">
            <a:avLst/>
          </a:prstGeom>
          <a:solidFill>
            <a:srgbClr val="FFDC00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310896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04C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MapReduce Paradigm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41248" y="896112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stages, endlessly parallel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77240" y="1965960"/>
            <a:ext cx="338328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C9D3DF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965960"/>
            <a:ext cx="3383280" cy="640080"/>
          </a:xfrm>
          <a:prstGeom prst="rect">
            <a:avLst/>
          </a:prstGeom>
          <a:solidFill>
            <a:srgbClr val="004C9B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07568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MAP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05840" y="283464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each record into key–value pairs — in parallel, on every node.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197096" y="3108960"/>
            <a:ext cx="429768" cy="0"/>
          </a:xfrm>
          <a:prstGeom prst="line">
            <a:avLst/>
          </a:prstGeom>
          <a:noFill/>
          <a:ln w="44450">
            <a:solidFill>
              <a:srgbClr val="FFDC0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663440" y="1965960"/>
            <a:ext cx="338328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C9D3DF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965960"/>
            <a:ext cx="3383280" cy="640080"/>
          </a:xfrm>
          <a:prstGeom prst="rect">
            <a:avLst/>
          </a:prstGeom>
          <a:solidFill>
            <a:srgbClr val="1C5FA8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207568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SHUFFLE &amp; SORT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892040" y="283464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all values that share a key, moving them to the same reducer.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083296" y="3108960"/>
            <a:ext cx="429768" cy="0"/>
          </a:xfrm>
          <a:prstGeom prst="line">
            <a:avLst/>
          </a:prstGeom>
          <a:noFill/>
          <a:ln w="44450">
            <a:solidFill>
              <a:srgbClr val="FFDC0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549640" y="1965960"/>
            <a:ext cx="338328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C9D3DF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549640" y="1965960"/>
            <a:ext cx="3383280" cy="640080"/>
          </a:xfrm>
          <a:prstGeom prst="rect">
            <a:avLst/>
          </a:prstGeom>
          <a:solidFill>
            <a:srgbClr val="3A78BC"/>
          </a:solidFill>
          <a:ln/>
        </p:spPr>
      </p:sp>
      <p:sp>
        <p:nvSpPr>
          <p:cNvPr id="17" name="Text 15"/>
          <p:cNvSpPr/>
          <p:nvPr/>
        </p:nvSpPr>
        <p:spPr>
          <a:xfrm>
            <a:off x="8732520" y="207568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REDUCE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778240" y="283464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the values for each key into a final result.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77240" y="489204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write only Map and Reduce. The framework handles the hard parts: splitting work, shuffling, retrying failed tasks, and assembling output.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TMU  •  CIND119 DHA - Introduction to Big Data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201168" cy="201168"/>
          </a:xfrm>
          <a:prstGeom prst="rect">
            <a:avLst/>
          </a:prstGeom>
          <a:solidFill>
            <a:srgbClr val="FFDC00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310896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04C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WordCount — The 'Hello World'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41248" y="896112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how often each word appears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5B6B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INPUT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2697480" cy="3383280"/>
          </a:xfrm>
          <a:prstGeom prst="roundRect">
            <a:avLst>
              <a:gd name="adj" fmla="val 2712"/>
            </a:avLst>
          </a:prstGeom>
          <a:solidFill>
            <a:srgbClr val="EEF2F7"/>
          </a:solidFill>
          <a:ln w="12700">
            <a:solidFill>
              <a:srgbClr val="C9D3DF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2240280"/>
            <a:ext cx="24231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spcAft>
                <a:spcPts val="10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cat</a:t>
            </a:r>
            <a:endParaRPr lang="en-US" sz="1250" dirty="0"/>
          </a:p>
          <a:p>
            <a:pPr marL="0" indent="0" algn="ctr">
              <a:spcAft>
                <a:spcPts val="10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sat the</a:t>
            </a:r>
            <a:endParaRPr lang="en-US" sz="1250" dirty="0"/>
          </a:p>
          <a:p>
            <a:pPr marL="0" indent="0" algn="ctr">
              <a:spcAft>
                <a:spcPts val="10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 the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342132" y="3749040"/>
            <a:ext cx="155448" cy="0"/>
          </a:xfrm>
          <a:prstGeom prst="line">
            <a:avLst/>
          </a:prstGeom>
          <a:noFill/>
          <a:ln w="31750">
            <a:solidFill>
              <a:srgbClr val="FFDC00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3502152" y="160020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4C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MAP → (word, 1)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502152" y="2057400"/>
            <a:ext cx="2697480" cy="33832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C9D3DF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39312" y="2240280"/>
            <a:ext cx="24231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spcAft>
                <a:spcPts val="10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(the,1) (cat,1)</a:t>
            </a:r>
            <a:endParaRPr lang="en-US" sz="1250" dirty="0"/>
          </a:p>
          <a:p>
            <a:pPr marL="0" indent="0" algn="ctr">
              <a:spcAft>
                <a:spcPts val="10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(sat,1) (the,1)</a:t>
            </a:r>
            <a:endParaRPr lang="en-US" sz="1250" dirty="0"/>
          </a:p>
          <a:p>
            <a:pPr marL="0" indent="0" algn="ctr">
              <a:spcAft>
                <a:spcPts val="10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(mat,1) (the,1)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04204" y="3749040"/>
            <a:ext cx="155448" cy="0"/>
          </a:xfrm>
          <a:prstGeom prst="line">
            <a:avLst/>
          </a:prstGeom>
          <a:noFill/>
          <a:ln w="31750">
            <a:solidFill>
              <a:srgbClr val="FFDC00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6364224" y="160020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C5F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SHUFFLE (group)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364224" y="2057400"/>
            <a:ext cx="2697480" cy="3383280"/>
          </a:xfrm>
          <a:prstGeom prst="roundRect">
            <a:avLst>
              <a:gd name="adj" fmla="val 2712"/>
            </a:avLst>
          </a:prstGeom>
          <a:solidFill>
            <a:srgbClr val="EEF2F7"/>
          </a:solidFill>
          <a:ln w="12700">
            <a:solidFill>
              <a:srgbClr val="C9D3DF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01384" y="2240280"/>
            <a:ext cx="24231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spcAft>
                <a:spcPts val="10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→ [1,1,1]</a:t>
            </a:r>
            <a:endParaRPr lang="en-US" sz="1250" dirty="0"/>
          </a:p>
          <a:p>
            <a:pPr marL="0" indent="0" algn="ctr">
              <a:spcAft>
                <a:spcPts val="10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→ [1]</a:t>
            </a:r>
            <a:endParaRPr lang="en-US" sz="1250" dirty="0"/>
          </a:p>
          <a:p>
            <a:pPr marL="0" indent="0" algn="ctr">
              <a:spcAft>
                <a:spcPts val="10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sat → [1]   mat → [1]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066276" y="3749040"/>
            <a:ext cx="155448" cy="0"/>
          </a:xfrm>
          <a:prstGeom prst="line">
            <a:avLst/>
          </a:prstGeom>
          <a:noFill/>
          <a:ln w="31750">
            <a:solidFill>
              <a:srgbClr val="FFDC00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9226296" y="160020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3A78B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REDUCE (sum)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226296" y="2057400"/>
            <a:ext cx="2697480" cy="33832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C9D3DF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363456" y="2240280"/>
            <a:ext cx="24231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spcAft>
                <a:spcPts val="10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→ 3</a:t>
            </a:r>
            <a:endParaRPr lang="en-US" sz="1250" dirty="0"/>
          </a:p>
          <a:p>
            <a:pPr marL="0" indent="0" algn="ctr">
              <a:spcAft>
                <a:spcPts val="10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→ 1</a:t>
            </a:r>
            <a:endParaRPr lang="en-US" sz="1250" dirty="0"/>
          </a:p>
          <a:p>
            <a:pPr marL="0" indent="0" algn="ctr">
              <a:spcAft>
                <a:spcPts val="10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sat → 1   mat → 1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0080" y="56235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"the cat sat the mat the" → the:3, cat:1, sat:1, mat:1. Each mapper ran on its own line, in parallel.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TMU  •  CIND119 DHA - Introduction to Big Data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201168" cy="201168"/>
          </a:xfrm>
          <a:prstGeom prst="rect">
            <a:avLst/>
          </a:prstGeom>
          <a:solidFill>
            <a:srgbClr val="FFDC00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310896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04C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 Analytics Scenario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41248" y="896112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 per region — same pattern, real value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6B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RAW TRANSACTIONS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3611880" cy="3081527"/>
          </a:xfrm>
          <a:prstGeom prst="roundRect">
            <a:avLst>
              <a:gd name="adj" fmla="val 2254"/>
            </a:avLst>
          </a:prstGeom>
          <a:solidFill>
            <a:srgbClr val="EEF2F7"/>
          </a:solidFill>
          <a:ln w="12700">
            <a:solidFill>
              <a:srgbClr val="C9D3DF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2331720"/>
            <a:ext cx="324612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spcAft>
                <a:spcPts val="8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West, $120</a:t>
            </a:r>
            <a:endParaRPr lang="en-US" sz="1400" dirty="0"/>
          </a:p>
          <a:p>
            <a:pPr marL="0" indent="0" algn="ctr">
              <a:spcAft>
                <a:spcPts val="8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East, $80</a:t>
            </a:r>
            <a:endParaRPr lang="en-US" sz="1400" dirty="0"/>
          </a:p>
          <a:p>
            <a:pPr marL="0" indent="0" algn="ctr">
              <a:spcAft>
                <a:spcPts val="8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West, $50</a:t>
            </a:r>
            <a:endParaRPr lang="en-US" sz="1400" dirty="0"/>
          </a:p>
          <a:p>
            <a:pPr marL="0" indent="0" algn="ctr">
              <a:spcAft>
                <a:spcPts val="8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East, $40</a:t>
            </a:r>
            <a:endParaRPr lang="en-US" sz="1400" dirty="0"/>
          </a:p>
          <a:p>
            <a:pPr marL="0" indent="0" algn="ctr">
              <a:spcAft>
                <a:spcPts val="8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West, $90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88536" y="3771900"/>
            <a:ext cx="292608" cy="0"/>
          </a:xfrm>
          <a:prstGeom prst="line">
            <a:avLst/>
          </a:prstGeom>
          <a:noFill/>
          <a:ln w="38100">
            <a:solidFill>
              <a:srgbClr val="FFDC00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4617720" y="169164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4C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MAP → (region, $)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17720" y="2148840"/>
            <a:ext cx="3611880" cy="3081527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C9D3DF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00600" y="2331720"/>
            <a:ext cx="324612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spcAft>
                <a:spcPts val="8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(West,120)</a:t>
            </a:r>
            <a:endParaRPr lang="en-US" sz="1400" dirty="0"/>
          </a:p>
          <a:p>
            <a:pPr marL="0" indent="0" algn="ctr">
              <a:spcAft>
                <a:spcPts val="8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(East,80)</a:t>
            </a:r>
            <a:endParaRPr lang="en-US" sz="1400" dirty="0"/>
          </a:p>
          <a:p>
            <a:pPr marL="0" indent="0" algn="ctr">
              <a:spcAft>
                <a:spcPts val="8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(West,50)</a:t>
            </a:r>
            <a:endParaRPr lang="en-US" sz="1400" dirty="0"/>
          </a:p>
          <a:p>
            <a:pPr marL="0" indent="0" algn="ctr">
              <a:spcAft>
                <a:spcPts val="8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(East,40)</a:t>
            </a:r>
            <a:endParaRPr lang="en-US" sz="1400" dirty="0"/>
          </a:p>
          <a:p>
            <a:pPr marL="0" indent="0" algn="ctr">
              <a:spcAft>
                <a:spcPts val="8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(West,90)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66176" y="3771900"/>
            <a:ext cx="292608" cy="0"/>
          </a:xfrm>
          <a:prstGeom prst="line">
            <a:avLst/>
          </a:prstGeom>
          <a:noFill/>
          <a:ln w="38100">
            <a:solidFill>
              <a:srgbClr val="FFDC00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8595360" y="169164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A78B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REDUCE → totals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595360" y="2148840"/>
            <a:ext cx="3479730" cy="3081527"/>
          </a:xfrm>
          <a:prstGeom prst="roundRect">
            <a:avLst>
              <a:gd name="adj" fmla="val 2254"/>
            </a:avLst>
          </a:prstGeom>
          <a:solidFill>
            <a:srgbClr val="EEF2F7"/>
          </a:solidFill>
          <a:ln w="12700">
            <a:solidFill>
              <a:srgbClr val="C9D3DF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778240" y="2331720"/>
            <a:ext cx="3246120" cy="2880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spcAft>
                <a:spcPts val="8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West → 260</a:t>
            </a:r>
            <a:endParaRPr lang="en-US" sz="1400" dirty="0"/>
          </a:p>
          <a:p>
            <a:pPr marL="0" indent="0" algn="ctr">
              <a:spcAft>
                <a:spcPts val="8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East → 120</a:t>
            </a:r>
            <a:endParaRPr lang="en-US" sz="1400" dirty="0"/>
          </a:p>
          <a:p>
            <a:pPr marL="0" indent="0" algn="ctr">
              <a:spcAft>
                <a:spcPts val="8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52120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i="1" dirty="0">
                <a:solidFill>
                  <a:srgbClr val="004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mapper extracts (region, amount); the reducer sums per region. Scale this from 5 rows to 5 billion and nothing about your code changes.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TMU  •  CIND119 DHA - Introduction to Big Data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201168" cy="201168"/>
          </a:xfrm>
          <a:prstGeom prst="rect">
            <a:avLst/>
          </a:prstGeom>
          <a:solidFill>
            <a:srgbClr val="FFDC00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310896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04C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Locality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41248" y="896112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trick that makes it fast: move code, not data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303520" cy="3383280"/>
          </a:xfrm>
          <a:prstGeom prst="roundRect">
            <a:avLst>
              <a:gd name="adj" fmla="val 2162"/>
            </a:avLst>
          </a:prstGeom>
          <a:solidFill>
            <a:srgbClr val="F7E9E7"/>
          </a:solidFill>
          <a:ln w="12700">
            <a:solidFill>
              <a:srgbClr val="D9A59E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874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039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  Move the data to the code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2468880"/>
            <a:ext cx="1737360" cy="1371600"/>
          </a:xfrm>
          <a:prstGeom prst="rect">
            <a:avLst/>
          </a:prstGeom>
          <a:solidFill>
            <a:srgbClr val="5B6B7E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Terabytes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 data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834640" y="3154680"/>
            <a:ext cx="1097280" cy="0"/>
          </a:xfrm>
          <a:prstGeom prst="line">
            <a:avLst/>
          </a:prstGeom>
          <a:noFill/>
          <a:ln w="38100">
            <a:solidFill>
              <a:srgbClr val="B0392E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4114800" y="2697480"/>
            <a:ext cx="1554480" cy="914400"/>
          </a:xfrm>
          <a:prstGeom prst="rect">
            <a:avLst/>
          </a:prstGeom>
          <a:solidFill>
            <a:srgbClr val="B0392E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44348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B03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becomes the bottleneck.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17920" y="1691640"/>
            <a:ext cx="5303520" cy="3383280"/>
          </a:xfrm>
          <a:prstGeom prst="roundRect">
            <a:avLst>
              <a:gd name="adj" fmla="val 2162"/>
            </a:avLst>
          </a:prstGeom>
          <a:solidFill>
            <a:srgbClr val="E7F0FB"/>
          </a:solidFill>
          <a:ln w="12700">
            <a:solidFill>
              <a:srgbClr val="004C9B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46520" y="1874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4C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Move the code to the data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961120" y="2468880"/>
            <a:ext cx="1737360" cy="1371600"/>
          </a:xfrm>
          <a:prstGeom prst="rect">
            <a:avLst/>
          </a:prstGeom>
          <a:solidFill>
            <a:srgbClr val="5B6B7E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Terabytes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 data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92240" y="2697480"/>
            <a:ext cx="1371600" cy="914400"/>
          </a:xfrm>
          <a:prstGeom prst="rect">
            <a:avLst/>
          </a:prstGeom>
          <a:solidFill>
            <a:srgbClr val="004C9B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909560" y="3154680"/>
            <a:ext cx="1005840" cy="0"/>
          </a:xfrm>
          <a:prstGeom prst="line">
            <a:avLst/>
          </a:prstGeom>
          <a:noFill/>
          <a:ln w="38100">
            <a:solidFill>
              <a:srgbClr val="004C9B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6446520" y="44348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004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program ships to each DataNode and runs on local blocks.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0080" y="52578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MapReduce program is kilobytes; the data is terabytes. Shipping the small thing to the big thing is the whole game.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TMU  •  CIND119 DHA - Introduction to Big Data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201168" cy="201168"/>
          </a:xfrm>
          <a:prstGeom prst="rect">
            <a:avLst/>
          </a:prstGeom>
          <a:solidFill>
            <a:srgbClr val="FFDC00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310896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04C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Helpers: Combiner &amp; Partitioner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41248" y="896112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the expensive shuffle step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34924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C9D3DF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737360"/>
            <a:ext cx="5349240" cy="640080"/>
          </a:xfrm>
          <a:prstGeom prst="rect">
            <a:avLst/>
          </a:prstGeom>
          <a:solidFill>
            <a:srgbClr val="004C9B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856232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COMBINER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51460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'mini-reduce' that runs on each mapper's output before the shuffle. It pre-aggregates locally so far less data crosses the network.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68680" y="365760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004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WordCount: a mapper seeing 'the' 500 times sends (the, 500) once — not 500 × (the, 1).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1737360"/>
            <a:ext cx="534924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C9D3DF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126480" y="1737360"/>
            <a:ext cx="5349240" cy="640080"/>
          </a:xfrm>
          <a:prstGeom prst="rect">
            <a:avLst/>
          </a:prstGeom>
          <a:solidFill>
            <a:srgbClr val="1C5FA8"/>
          </a:solidFill>
          <a:ln/>
        </p:spPr>
      </p:sp>
      <p:sp>
        <p:nvSpPr>
          <p:cNvPr id="12" name="Text 10"/>
          <p:cNvSpPr/>
          <p:nvPr/>
        </p:nvSpPr>
        <p:spPr>
          <a:xfrm>
            <a:off x="6355080" y="1856232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PARTITIONER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55080" y="251460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which reducer receives which key. The default hashes the key so the load spreads evenly across reducers.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355080" y="365760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004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job: a custom partitioner could route every region to a chosen reducer for ordered output.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TMU  •  CIND119 DHA - Introduction to Big Data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72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4C9B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2860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WRAP-UP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27432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Hadoop Fits Now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14400" y="3840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E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perspective for 2026: foundation, not default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BC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TMU  •  CIND119 DHA - Introduction to Big Data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BC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201168" cy="201168"/>
          </a:xfrm>
          <a:prstGeom prst="rect">
            <a:avLst/>
          </a:prstGeom>
          <a:solidFill>
            <a:srgbClr val="FFDC00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310896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04C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the Field Moved 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41248" y="896112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MapReduce was revolutionary — and slow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349240" cy="1325880"/>
          </a:xfrm>
          <a:prstGeom prst="roundRect">
            <a:avLst>
              <a:gd name="adj" fmla="val 5517"/>
            </a:avLst>
          </a:prstGeom>
          <a:solidFill>
            <a:srgbClr val="EEF2F7"/>
          </a:solidFill>
          <a:ln w="12700">
            <a:solidFill>
              <a:srgbClr val="C9D3DF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91640"/>
            <a:ext cx="109728" cy="1325880"/>
          </a:xfrm>
          <a:prstGeom prst="rect">
            <a:avLst/>
          </a:prstGeom>
          <a:solidFill>
            <a:srgbClr val="FF7200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82880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34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Disk between every step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2240280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writes results to disk before the next reads them. Iterative jobs pay that tax over and over.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766560" y="1691640"/>
            <a:ext cx="5349240" cy="1325880"/>
          </a:xfrm>
          <a:prstGeom prst="roundRect">
            <a:avLst>
              <a:gd name="adj" fmla="val 5517"/>
            </a:avLst>
          </a:prstGeom>
          <a:solidFill>
            <a:srgbClr val="EEF2F7"/>
          </a:solidFill>
          <a:ln w="12700">
            <a:solidFill>
              <a:srgbClr val="C9D3DF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766560" y="1691640"/>
            <a:ext cx="109728" cy="1325880"/>
          </a:xfrm>
          <a:prstGeom prst="rect">
            <a:avLst/>
          </a:prstGeom>
          <a:solidFill>
            <a:srgbClr val="FF7200"/>
          </a:solidFill>
          <a:ln/>
        </p:spPr>
      </p:sp>
      <p:sp>
        <p:nvSpPr>
          <p:cNvPr id="11" name="Text 9"/>
          <p:cNvSpPr/>
          <p:nvPr/>
        </p:nvSpPr>
        <p:spPr>
          <a:xfrm>
            <a:off x="7086600" y="182880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34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Verbose to write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086600" y="2240280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MapReduce means lots of boilerplate Java — a high barrier for analysts and data scientists.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337560"/>
            <a:ext cx="5349240" cy="1325880"/>
          </a:xfrm>
          <a:prstGeom prst="roundRect">
            <a:avLst>
              <a:gd name="adj" fmla="val 5517"/>
            </a:avLst>
          </a:prstGeom>
          <a:solidFill>
            <a:srgbClr val="EEF2F7"/>
          </a:solidFill>
          <a:ln w="12700">
            <a:solidFill>
              <a:srgbClr val="C9D3DF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3337560"/>
            <a:ext cx="109728" cy="1325880"/>
          </a:xfrm>
          <a:prstGeom prst="rect">
            <a:avLst/>
          </a:prstGeom>
          <a:solidFill>
            <a:srgbClr val="FF7200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347472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34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Batch only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60120" y="3886200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interactive queries, no streaming, no efficient machine learning loops.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766560" y="3337560"/>
            <a:ext cx="5349240" cy="1325880"/>
          </a:xfrm>
          <a:prstGeom prst="roundRect">
            <a:avLst>
              <a:gd name="adj" fmla="val 5517"/>
            </a:avLst>
          </a:prstGeom>
          <a:solidFill>
            <a:srgbClr val="EEF2F7"/>
          </a:solidFill>
          <a:ln w="12700">
            <a:solidFill>
              <a:srgbClr val="C9D3DF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66560" y="3337560"/>
            <a:ext cx="109728" cy="1325880"/>
          </a:xfrm>
          <a:prstGeom prst="rect">
            <a:avLst/>
          </a:prstGeom>
          <a:solidFill>
            <a:srgbClr val="FF7200"/>
          </a:solidFill>
          <a:ln/>
        </p:spPr>
      </p:sp>
      <p:sp>
        <p:nvSpPr>
          <p:cNvPr id="19" name="Text 17"/>
          <p:cNvSpPr/>
          <p:nvPr/>
        </p:nvSpPr>
        <p:spPr>
          <a:xfrm>
            <a:off x="7086600" y="347472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34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Heavy to operate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086600" y="3886200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and tuning your own cluster needs a dedicated engineering team.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0080" y="53492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this means HDFS or the ideas were wrong — it means a faster processing engine was needed.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TMU  •  CIND119 DHA - Introduction to Big Data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201168" cy="201168"/>
          </a:xfrm>
          <a:prstGeom prst="rect">
            <a:avLst/>
          </a:prstGeom>
          <a:solidFill>
            <a:srgbClr val="FFDC00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310896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04C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Apache Spark &amp; the Modern Stack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41248" y="896112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most new projects use in 2026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5349240" cy="3291840"/>
          </a:xfrm>
          <a:prstGeom prst="roundRect">
            <a:avLst>
              <a:gd name="adj" fmla="val 2222"/>
            </a:avLst>
          </a:prstGeom>
          <a:solidFill>
            <a:srgbClr val="E7F0FB"/>
          </a:solidFill>
          <a:ln w="12700">
            <a:solidFill>
              <a:srgbClr val="004C9B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81051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4C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APACHE SPARK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286000"/>
            <a:ext cx="48463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— 10–100× faster on iterative jobs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engine: SQL, streaming, ML (MLlib), graphs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Friendly APIs in Python, SQL, Scala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Cloud-native: Kubernetes, EMR, Dataproc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172200" y="1645920"/>
            <a:ext cx="534924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9D3DF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0" y="181051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34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LAKEHOUSE PATTERN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0" y="2286000"/>
            <a:ext cx="4892040" cy="640080"/>
          </a:xfrm>
          <a:prstGeom prst="rect">
            <a:avLst/>
          </a:prstGeom>
          <a:solidFill>
            <a:srgbClr val="5B6B7E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 storage — S3 / ADLS / GCS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0" y="3063240"/>
            <a:ext cx="4892040" cy="640080"/>
          </a:xfrm>
          <a:prstGeom prst="rect">
            <a:avLst/>
          </a:prstGeom>
          <a:solidFill>
            <a:srgbClr val="3A78BC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Table format — Apache Iceberg / Delta Lake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00800" y="3840480"/>
            <a:ext cx="4892040" cy="640080"/>
          </a:xfrm>
          <a:prstGeom prst="rect">
            <a:avLst/>
          </a:prstGeom>
          <a:solidFill>
            <a:srgbClr val="004C9B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Engine — Spark (+ Flink for streaming)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0" y="461772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object storage increasingly replaces on-prem HDFS as the storage layer.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52120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i="1" dirty="0">
                <a:solidFill>
                  <a:srgbClr val="004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4.0 (2025) is the current generation. Note: Spark happily reads HDFS — it replaced the engine, not the ideas.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TMU  •  CIND119 DHA - Introduction to Big Data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201168" cy="201168"/>
          </a:xfrm>
          <a:prstGeom prst="rect">
            <a:avLst/>
          </a:prstGeom>
          <a:solidFill>
            <a:srgbClr val="FFDC00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310896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04C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When to Use What — 2026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41248" y="896112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Hadoop is the foundation, not the default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EEF2F7"/>
          </a:solidFill>
          <a:ln w="12700">
            <a:solidFill>
              <a:srgbClr val="C9D3DF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691640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Multi-petabyte on-prem estate already running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680960" y="1783080"/>
            <a:ext cx="3566160" cy="475488"/>
          </a:xfrm>
          <a:prstGeom prst="rect">
            <a:avLst/>
          </a:prstGeom>
          <a:solidFill>
            <a:srgbClr val="004C9B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Keep HDFS / YARN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459736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9D3DF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2459736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Mature, scheduled batch ETL on commodity hardware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680960" y="2551176"/>
            <a:ext cx="3566160" cy="475488"/>
          </a:xfrm>
          <a:prstGeom prst="rect">
            <a:avLst/>
          </a:prstGeom>
          <a:solidFill>
            <a:srgbClr val="004C9B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Hadoop still fits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3227832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EEF2F7"/>
          </a:solidFill>
          <a:ln w="12700">
            <a:solidFill>
              <a:srgbClr val="C9D3DF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3227832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Low-cost bulk storage for a data lake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680960" y="3319272"/>
            <a:ext cx="3566160" cy="475488"/>
          </a:xfrm>
          <a:prstGeom prst="rect">
            <a:avLst/>
          </a:prstGeom>
          <a:solidFill>
            <a:srgbClr val="3A78BC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HDFS or object storage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3995928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9D3DF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4400" y="3995928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(greenfield) analytics or ML project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680960" y="4087368"/>
            <a:ext cx="3566160" cy="475488"/>
          </a:xfrm>
          <a:prstGeom prst="rect">
            <a:avLst/>
          </a:prstGeom>
          <a:solidFill>
            <a:srgbClr val="FF7200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Spark + cloud object storage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0080" y="4764024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EEF2F7"/>
          </a:solidFill>
          <a:ln w="12700">
            <a:solidFill>
              <a:srgbClr val="C9D3DF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764024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/ streaming / iterative ML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680960" y="4855464"/>
            <a:ext cx="3566160" cy="475488"/>
          </a:xfrm>
          <a:prstGeom prst="rect">
            <a:avLst/>
          </a:prstGeom>
          <a:solidFill>
            <a:srgbClr val="FF7200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Spark (+ Flink)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40080" y="55321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path teams follow: Hive→Spark SQL · MapReduce→PySpark · HDFS→S3 · YARN→Kubernetes.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TMU  •  CIND119 DHA - Introduction to Big Data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201168" cy="201168"/>
          </a:xfrm>
          <a:prstGeom prst="rect">
            <a:avLst/>
          </a:prstGeom>
          <a:solidFill>
            <a:srgbClr val="FFDC00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310896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04C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548640" cy="548640"/>
          </a:xfrm>
          <a:prstGeom prst="rect">
            <a:avLst/>
          </a:prstGeom>
          <a:solidFill>
            <a:srgbClr val="004C9B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508760" y="1554480"/>
            <a:ext cx="9966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breaks single machines on volume, speed, and reliability — so Hadoop scales OUT across cheap nodes.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31520" y="2395728"/>
            <a:ext cx="548640" cy="548640"/>
          </a:xfrm>
          <a:prstGeom prst="rect">
            <a:avLst/>
          </a:prstGeom>
          <a:solidFill>
            <a:srgbClr val="004C9B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2395728"/>
            <a:ext cx="9966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HDFS splits files into 128 MB blocks and keeps 3 replicas, surviving node and rack failure automatically.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31520" y="3236976"/>
            <a:ext cx="548640" cy="548640"/>
          </a:xfrm>
          <a:prstGeom prst="rect">
            <a:avLst/>
          </a:prstGeom>
          <a:solidFill>
            <a:srgbClr val="004C9B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08760" y="3236976"/>
            <a:ext cx="9966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MapReduce processes data in parallel where it lives: Map → Shuffle &amp; Sort → Reduce.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31520" y="4078224"/>
            <a:ext cx="548640" cy="548640"/>
          </a:xfrm>
          <a:prstGeom prst="rect">
            <a:avLst/>
          </a:prstGeom>
          <a:solidFill>
            <a:srgbClr val="004C9B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08760" y="4078224"/>
            <a:ext cx="9966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ecosystem (Hive, Spark, Kafka, Parquet…) layers on these four core modules.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31520" y="4919472"/>
            <a:ext cx="548640" cy="548640"/>
          </a:xfrm>
          <a:prstGeom prst="rect">
            <a:avLst/>
          </a:prstGeom>
          <a:solidFill>
            <a:srgbClr val="FF7200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508760" y="4919472"/>
            <a:ext cx="9966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2026, Spark + cloud object storage lead new work — but every concept here transfers straight to them.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TMU  •  CIND119 DHA - Introduction to Big Data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201168" cy="201168"/>
          </a:xfrm>
          <a:prstGeom prst="rect">
            <a:avLst/>
          </a:prstGeom>
          <a:solidFill>
            <a:srgbClr val="FFDC00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310896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04C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Sources &amp; Further Reading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41248" y="896112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June 2026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31520" y="1691640"/>
            <a:ext cx="91440" cy="713232"/>
          </a:xfrm>
          <a:prstGeom prst="rect">
            <a:avLst/>
          </a:prstGeom>
          <a:solidFill>
            <a:srgbClr val="004C9B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645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4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Apache Hadoop — official site &amp; docs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0116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hadoop.apache.org — current stable release 3.5.0 (Apr 2026); 4 core modules; HDFS defaults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606040"/>
            <a:ext cx="91440" cy="713232"/>
          </a:xfrm>
          <a:prstGeom prst="rect">
            <a:avLst/>
          </a:prstGeom>
          <a:solidFill>
            <a:srgbClr val="004C9B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560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4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Apache Spark — official site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29260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spark.apache.org — current generation Spark 4.0 (2025)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3520440"/>
            <a:ext cx="91440" cy="713232"/>
          </a:xfrm>
          <a:prstGeom prst="rect">
            <a:avLst/>
          </a:prstGeom>
          <a:solidFill>
            <a:srgbClr val="004C9B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3474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4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Industry landscape (2025–26)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38404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Lakehouse pattern: object storage + Iceberg/Delta + Spark/Flink; cloud-managed Hadoop via AWS EMR, Azure HDInsight, Google Dataproc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4434840"/>
            <a:ext cx="91440" cy="713232"/>
          </a:xfrm>
          <a:prstGeom prst="rect">
            <a:avLst/>
          </a:prstGeom>
          <a:solidFill>
            <a:srgbClr val="004C9B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389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4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Original research papers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47548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File System (2003) and MapReduce (2004) — the blueprint Hadoop implemented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TMU  •  CIND119 DHA - Introduction to Big Data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C9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FFDC00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1945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300" normalizeH="0" baseline="0" noProof="0" dirty="0">
                <a:ln>
                  <a:noFill/>
                </a:ln>
                <a:solidFill>
                  <a:srgbClr val="FFDC00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DEMONSTRATION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914400" y="26517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WordCount on Hadoop</a:t>
            </a:r>
            <a:endParaRPr kumimoji="0" lang="en-US" sz="4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914400" y="3749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/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FE0F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 single-node cluster in Docker — from raw text to word counts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BBC7D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TMU  •  CIND119 DHA - Introduction to Big Data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BBC7D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A621BF1-9338-FCB5-8FD0-35B9FEFBCE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4491" y="27391"/>
            <a:ext cx="2308058" cy="1252769"/>
          </a:xfrm>
          <a:prstGeom prst="rect">
            <a:avLst/>
          </a:prstGeom>
        </p:spPr>
      </p:pic>
      <p:sp>
        <p:nvSpPr>
          <p:cNvPr id="11" name="Text 3">
            <a:extLst>
              <a:ext uri="{FF2B5EF4-FFF2-40B4-BE49-F238E27FC236}">
                <a16:creationId xmlns:a16="http://schemas.microsoft.com/office/drawing/2014/main" id="{F40F1851-F79C-AF39-D212-49FD90E2CFD1}"/>
              </a:ext>
            </a:extLst>
          </p:cNvPr>
          <p:cNvSpPr/>
          <p:nvPr/>
        </p:nvSpPr>
        <p:spPr>
          <a:xfrm>
            <a:off x="914400" y="412402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/>
            <a:r>
              <a:rPr lang="en-US" sz="160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Lab – </a:t>
            </a:r>
            <a:r>
              <a:rPr lang="en-US" sz="1600" dirty="0" err="1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r>
              <a:rPr lang="en-US" sz="160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CA" sz="1600" dirty="0" err="1">
                <a:hlinkClick r:id="rId4"/>
              </a:rPr>
              <a:t>gterdem</a:t>
            </a:r>
            <a:r>
              <a:rPr lang="en-CA" sz="1600" dirty="0">
                <a:hlinkClick r:id="rId4"/>
              </a:rPr>
              <a:t>/</a:t>
            </a:r>
            <a:r>
              <a:rPr lang="en-CA" sz="1600" dirty="0" err="1">
                <a:hlinkClick r:id="rId4"/>
              </a:rPr>
              <a:t>hadoop</a:t>
            </a:r>
            <a:r>
              <a:rPr lang="en-CA" sz="1600" dirty="0">
                <a:hlinkClick r:id="rId4"/>
              </a:rPr>
              <a:t>-demo</a:t>
            </a:r>
            <a:r>
              <a:rPr lang="en-US" sz="160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600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2856</Words>
  <Application>Microsoft Office PowerPoint</Application>
  <PresentationFormat>Widescreen</PresentationFormat>
  <Paragraphs>503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Apache Hadoop — Foundations, HDFS &amp; MapReduce</dc:title>
  <dc:subject>PptxGenJS Presentation</dc:subject>
  <dc:creator>Dr. Zekiye Erdem</dc:creator>
  <cp:lastModifiedBy>Galip Tolga ERDEM</cp:lastModifiedBy>
  <cp:revision>2</cp:revision>
  <dcterms:created xsi:type="dcterms:W3CDTF">2026-06-08T23:47:54Z</dcterms:created>
  <dcterms:modified xsi:type="dcterms:W3CDTF">2026-06-09T02:50:41Z</dcterms:modified>
</cp:coreProperties>
</file>